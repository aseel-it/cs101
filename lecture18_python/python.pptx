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2"/>
  </p:notesMasterIdLst>
  <p:sldIdLst>
    <p:sldId id="497" r:id="rId2"/>
    <p:sldId id="256" r:id="rId3"/>
    <p:sldId id="498" r:id="rId4"/>
    <p:sldId id="499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  <p:sldId id="345" r:id="rId92"/>
    <p:sldId id="346" r:id="rId93"/>
    <p:sldId id="347" r:id="rId94"/>
    <p:sldId id="348" r:id="rId95"/>
    <p:sldId id="349" r:id="rId96"/>
    <p:sldId id="350" r:id="rId97"/>
    <p:sldId id="351" r:id="rId98"/>
    <p:sldId id="352" r:id="rId99"/>
    <p:sldId id="353" r:id="rId100"/>
    <p:sldId id="354" r:id="rId10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63AE767-87C0-4C50-8EB2-9E51FD94263C}">
  <a:tblStyle styleId="{163AE767-87C0-4C50-8EB2-9E51FD94263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134" autoAdjust="0"/>
  </p:normalViewPr>
  <p:slideViewPr>
    <p:cSldViewPr snapToGrid="0">
      <p:cViewPr varScale="1">
        <p:scale>
          <a:sx n="79" d="100"/>
          <a:sy n="79" d="100"/>
        </p:scale>
        <p:origin x="92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cratchblocks.github.io/#?style=scratch3&amp;script=say%20%5Bhello%2C%20world%5D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scratchblocks.github.io/#?style=scratch3&amp;script=ask%20%5BWhat's%20your%20name%3F%20%5D%20and%20wait%0Asay%20(join%5Bhello%2C%20%5D%20(answer)%0A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scratchblocks.github.io/#?style=scratch3&amp;script=set%20%5Bcounter%20v%5D%20to%20(0)" TargetMode="External"/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scratchblocks.github.io/#?style=scratch3&amp;script=change%20%5Bcounter%20v%5D%20by%20(1)" TargetMode="External"/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scratchblocks.github.io/#?style=scratch3&amp;script=if%20%3C(x)%20%3C%20(y)%3E%20then%0Asay%20%5Bx%20is%20less%20than%20y%5D" TargetMode="External"/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scratchblocks.github.io/#?style=scratch3&amp;script=if%20%3C(x)%20%3C%20(y)%3E%20then%0Asay%20%5Bx%20is%20less%20than%20y%5D%0Aelse%0Asay%20%5Bx%20is%20not%20less%20than%20y%5D" TargetMode="External"/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scratchblocks.github.io/#?style=scratch3&amp;script=if%20%3C(x)%20%3C%20(y)%3E%20then%0Asay%20%5Bx%20is%20less%20than%20y%5D%0Aelse%0Aif%20%3C(x)%20%3E%20(y)%3E%20then%0Asay%20%5Bx%20is%20greater%20than%20y%5D%0Aelse%0Asay%20%5Bx%20is%20equal%20to%20y%5D" TargetMode="External"/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3" Type="http://schemas.openxmlformats.org/officeDocument/2006/relationships/hyperlink" Target="https://scratchblocks.github.io/#?style=scratch3&amp;script=repeat%20%5B3%5D%0Asay%5Bmeow%5D" TargetMode="External"/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3" Type="http://schemas.openxmlformats.org/officeDocument/2006/relationships/hyperlink" Target="https://scratchblocks.github.io/#?style=scratch3&amp;script=forever%0Asay%5Bmeow%5D" TargetMode="External"/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ed3b88a86b_17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ed3b88a86b_17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801494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ed3b88a86b_17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ed3b88a86b_17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ed3b88a86b_17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ed3b88a86b_17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15070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5d419bd39f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5d419bd39f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may seem arcane but lots of data structures in world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64077ea43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64077ea43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64077ea43c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64077ea43c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64077ea43c_0_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64077ea43c_0_2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4119545db0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4119545db0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4119545db0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4119545db0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4119545db0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4119545db0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1/hello0.py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6/speller/dictionary.py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6/filter/{blur,edges}.py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0d19c1f350_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0d19c1f350_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922c153d14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922c153d14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64077ea43c_0_7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64077ea43c_0_7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64077ea43c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64077ea43c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https://scratchblocks.github.io/#?style=scratch3&amp;script=say%20%5Bhello%2C%20world%5D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64077ea43c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64077ea43c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64077ea43c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64077ea43c_0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922c153d14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922c153d14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d48d6721ca_1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d48d6721ca_1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4119545db0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4119545db0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4119545db0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4119545db0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4119545db0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4119545db0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64077ea43c_0_6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64077ea43c_0_6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https://scratchblocks.github.io/#?style=scratch3&amp;script=ask%20%5BWhat's%20your%20name%3F%20%5D%20and%20wait%0Asay%20(join%5Bhello%2C%20%5D%20(answer)%0A 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64077ea43c_0_6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64077ea43c_0_6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64077ea43c_0_6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64077ea43c_0_6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4119545db0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14119545db0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64077ea43c_0_6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64077ea43c_0_6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4119545db0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14119545db0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hello{1,2,3}.py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922c153d14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922c153d14_0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d48d6721ca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d48d6721ca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hello4.py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d48d6721ca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d48d6721ca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d48d6721ca_1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d48d6721ca_1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d48d6721ca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d48d6721ca_1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d48d6721ca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d48d6721ca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d48d6721ca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d48d6721ca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d48d6721ca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d48d6721ca_1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d48d6721ca_1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2d48d6721ca_1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d48d6721ca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2d48d6721ca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922c153d14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922c153d14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https://scratchblocks.github.io/#?style=scratch3&amp;script=set%20%5Bcounter%20v%5D%20to%20(0)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922c153d14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2922c153d14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922c153d14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922c153d14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922c153d14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2922c153d14_0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https://scratchblocks.github.io/#?style=scratch3&amp;script=change%20%5Bcounter%20v%5D%20by%20(1)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922c153d14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2922c153d14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922c153d14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2922c153d14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922c153d14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2922c153d14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14119545db0_0_3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14119545db0_0_3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4119545db0_0_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14119545db0_0_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4119545db0_0_3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14119545db0_0_3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calculator{0,1}.py</a:t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4119545db0_0_3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4119545db0_0_3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4119545db0_0_3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4119545db0_0_3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4119545db0_0_3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14119545db0_0_3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14119545db0_0_3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14119545db0_0_3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14119545db0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14119545db0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14119545db0_0_3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14119545db0_0_3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14119545db0_0_3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14119545db0_0_3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14119545db0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14119545db0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https://scratchblocks.github.io/#?style=scratch3&amp;script=if%20%3C(x)%20%3C%20(y)%3E%20then%0Asay%20%5Bx%20is%20less%20than%20y%5D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14119545db0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14119545db0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14119545db0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14119545db0_0_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14119545db0_0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14119545db0_0_2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https://scratchblocks.github.io/#?style=scratch3&amp;script=if%20%3C(x)%20%3C%20(y)%3E%20then%0Asay%20%5Bx%20is%20less%20than%20y%5D%0Aelse%0Asay%20%5Bx%20is%20not%20less%20than%20y%5D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14119545db0_0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14119545db0_0_2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14119545db0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14119545db0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14119545db0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14119545db0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https://scratchblocks.github.io/#?style=scratch3&amp;script=if%20%3C(x)%20%3C%20(y)%3E%20then%0Asay%20%5Bx%20is%20less%20than%20y%5D%0Aelse%0Aif%20%3C(x)%20%3E%20(y)%3E%20then%0Asay%20%5Bx%20is%20greater%20than%20y%5D%0Aelse%0Asay%20%5Bx%20is%20equal%20to%20y%5D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14119545db0_0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14119545db0_0_2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14119545db0_0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14119545db0_0_2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1/compare3.py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922c153d14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2922c153d14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4/compare.py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1/agree{0,1}.py</a:t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2922c153d14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2922c153d14_0_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2922c153d14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2922c153d14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2922c153d14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2922c153d14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1/agree2.py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4/copy.py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2/uppercase{0,1}.py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14119545db0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14119545db0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f8035616f9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f8035616f9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https://scratchblocks.github.io/#?style=scratch3&amp;script=repeat%20%5B3%5D%0Asay%5Bmeow%5D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f8035616f9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f8035616f9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f8035616f9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f8035616f9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f8035616f9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f8035616f9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f8035616f9_0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f8035616f9_0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f8035616f9_0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f8035616f9_0_2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f8035616f9_0_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f8035616f9_0_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29255e19e45_15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29255e19e45_15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2d48d6721ca_1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2d48d6721ca_1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14119545db0_0_3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14119545db0_0_3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https://scratchblocks.github.io/#?style=scratch3&amp;script=forever%0Asay%5Bmeow%5D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14119545db0_0_3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14119545db0_0_3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14119545db0_0_3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14119545db0_0_3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meow{0,1,2,3,4,5,6}.py</a:t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29255e19e45_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29255e19e45_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calculator2.py, with 1/3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not an issue with /</a:t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14119545db0_0_4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14119545db0_0_400:notes"/>
          <p:cNvSpPr txBox="1">
            <a:spLocks noGrp="1"/>
          </p:cNvSpPr>
          <p:nvPr>
            <p:ph type="body" idx="1"/>
          </p:nvPr>
        </p:nvSpPr>
        <p:spPr>
          <a:xfrm>
            <a:off x="685800" y="44958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calculator3.py, with 1/3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14119545db0_0_4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14119545db0_0_4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an issue</a:t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2922c153d14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2922c153d14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integer{0,1,2,3,4}.py</a:t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449b298dd1_21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449b298dd1_21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mario{0,1}.py</a:t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449b298dd1_2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449b298dd1_21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mario{2,3}.py</a:t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449b298dd1_2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449b298dd1_21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mario{4,5}.py</a:t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14119545db0_0_5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14119545db0_0_5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14119545db0_0_5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14119545db0_0_5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14119545db0_0_5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14119545db0_0_5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14119545db0_0_5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14119545db0_0_5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2/scores{0,1,2}.py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3/phonebook{0,1}.py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2922c153d14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2922c153d14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2922c153d14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2922c153d14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2922c153d14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2922c153d14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phonebook{2,3,4}.py</a:t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14119545db0_0_5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14119545db0_0_5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14119545db0_0_5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14119545db0_0_5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2/greet{0,1,2}.py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2/exit.py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14119545db0_0_6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14119545db0_0_6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14119545db0_0_6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14119545db0_0_6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4/phonebook{0,1,2}.py</a:t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2922c153d14_0_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2922c153d14_0_2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 install cowsay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moo{0,1}.py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 install qrcode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qr.py</a:t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14119545db0_0_5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14119545db0_0_5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rgbClr val="0000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functions.html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functions.html#print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stdtypes.html#string-methods" TargetMode="External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1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1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stdtypes.html#sequence-types-list-tuple-range" TargetMode="External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functions.html#len" TargetMode="External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1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stdtypes.html#mapping-types-dict" TargetMode="External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sys.html" TargetMode="External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csv.html" TargetMode="External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>
            <a:spLocks noGrp="1"/>
          </p:cNvSpPr>
          <p:nvPr>
            <p:ph type="title"/>
          </p:nvPr>
        </p:nvSpPr>
        <p:spPr>
          <a:xfrm>
            <a:off x="311700" y="2117323"/>
            <a:ext cx="8520600" cy="90885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s-AF" sz="3200" dirty="0"/>
              <a:t>بسم الله الرحمن الرحیم</a:t>
            </a:r>
            <a:endParaRPr sz="32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1669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>
            <a:spLocks noGrp="1"/>
          </p:cNvSpPr>
          <p:nvPr>
            <p:ph type="title"/>
          </p:nvPr>
        </p:nvSpPr>
        <p:spPr>
          <a:xfrm>
            <a:off x="311700" y="1810492"/>
            <a:ext cx="8520600" cy="15225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CS101</a:t>
            </a:r>
            <a:br>
              <a:rPr lang="en" sz="4800" dirty="0"/>
            </a:br>
            <a:r>
              <a:rPr lang="en" sz="4800" dirty="0"/>
              <a:t>Introduction to </a:t>
            </a:r>
            <a:br>
              <a:rPr lang="en" sz="4800" dirty="0"/>
            </a:br>
            <a:r>
              <a:rPr lang="en" sz="4800" dirty="0"/>
              <a:t>Computer Science</a:t>
            </a:r>
            <a:endParaRPr sz="4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>
            <a:spLocks noGrp="1"/>
          </p:cNvSpPr>
          <p:nvPr>
            <p:ph type="title"/>
          </p:nvPr>
        </p:nvSpPr>
        <p:spPr>
          <a:xfrm>
            <a:off x="311700" y="1810492"/>
            <a:ext cx="8520600" cy="15225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Lecture 16</a:t>
            </a:r>
            <a:endParaRPr sz="4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4805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Python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9475" y="1743075"/>
            <a:ext cx="2305050" cy="165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body" idx="1"/>
          </p:nvPr>
        </p:nvSpPr>
        <p:spPr>
          <a:xfrm>
            <a:off x="2608950" y="1456200"/>
            <a:ext cx="3926100" cy="223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#include &lt;stdio.h&gt;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 main(void)</a:t>
            </a:r>
            <a:b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printf("hello, world\n");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>
            <a:off x="2608950" y="1456200"/>
            <a:ext cx="3926100" cy="223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print("hello, world")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make hello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./hello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clang -o hello hello.c -lcs50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./hello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python hello.py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compiled, interpreted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4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5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25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5"/>
          <p:cNvSpPr txBox="1"/>
          <p:nvPr/>
        </p:nvSpPr>
        <p:spPr>
          <a:xfrm>
            <a:off x="4724100" y="1959300"/>
            <a:ext cx="3353400" cy="12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printf("hello, world");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19" name="Google Shape;11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2247450"/>
            <a:ext cx="1828800" cy="6485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6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6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26"/>
          <p:cNvSpPr txBox="1"/>
          <p:nvPr/>
        </p:nvSpPr>
        <p:spPr>
          <a:xfrm>
            <a:off x="3657600" y="1959300"/>
            <a:ext cx="5486400" cy="12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printf("hello, world\n");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27" name="Google Shape;12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2247450"/>
            <a:ext cx="1828800" cy="6485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7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27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7"/>
          <p:cNvSpPr txBox="1"/>
          <p:nvPr/>
        </p:nvSpPr>
        <p:spPr>
          <a:xfrm>
            <a:off x="4724100" y="1959300"/>
            <a:ext cx="3353400" cy="12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print("hello, world")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35" name="Google Shape;13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2247450"/>
            <a:ext cx="1828800" cy="6485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libraries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modules, packages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#include &lt;cs50.h&gt;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import cs50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cs50 import get_string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3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33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33"/>
          <p:cNvSpPr txBox="1"/>
          <p:nvPr/>
        </p:nvSpPr>
        <p:spPr>
          <a:xfrm>
            <a:off x="3831750" y="1524300"/>
            <a:ext cx="5138100" cy="20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string answer = get_string("What's your name?\n");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printf("hello, %s\n", answer);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68" name="Google Shape;16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737" y="1962675"/>
            <a:ext cx="3130125" cy="121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4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34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34"/>
          <p:cNvSpPr txBox="1"/>
          <p:nvPr/>
        </p:nvSpPr>
        <p:spPr>
          <a:xfrm>
            <a:off x="3831750" y="1524300"/>
            <a:ext cx="5138100" cy="20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string answer = get_string("What's your name? ");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printf("hello, %s\n", answer);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76" name="Google Shape;17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737" y="1962675"/>
            <a:ext cx="3130125" cy="121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5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35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35"/>
          <p:cNvSpPr txBox="1"/>
          <p:nvPr/>
        </p:nvSpPr>
        <p:spPr>
          <a:xfrm>
            <a:off x="3831750" y="1524300"/>
            <a:ext cx="5138100" cy="20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answer = get_string("What's your name? ")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print("hello, " + answer)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84" name="Google Shape;18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737" y="1962675"/>
            <a:ext cx="3130125" cy="121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6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36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36"/>
          <p:cNvSpPr txBox="1"/>
          <p:nvPr/>
        </p:nvSpPr>
        <p:spPr>
          <a:xfrm>
            <a:off x="3831750" y="1524300"/>
            <a:ext cx="5138100" cy="20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answer = get_string("What's your name? ")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print("hello,", answer)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92" name="Google Shape;19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737" y="1962675"/>
            <a:ext cx="3130125" cy="121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7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37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37"/>
          <p:cNvSpPr txBox="1"/>
          <p:nvPr/>
        </p:nvSpPr>
        <p:spPr>
          <a:xfrm>
            <a:off x="3831750" y="1524300"/>
            <a:ext cx="5138100" cy="20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answer = get_string("What's your name? ")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print(f"hello, {answer}")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00" name="Google Shape;20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737" y="1962675"/>
            <a:ext cx="3130125" cy="121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38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38"/>
          <p:cNvSpPr txBox="1"/>
          <p:nvPr/>
        </p:nvSpPr>
        <p:spPr>
          <a:xfrm>
            <a:off x="3831750" y="1524300"/>
            <a:ext cx="5138100" cy="20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answer = input("What's your name? ")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print(f"hello, {answer}")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08" name="Google Shape;20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737" y="1962675"/>
            <a:ext cx="3130125" cy="121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positional parameters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named parameters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rId3"/>
              </a:rPr>
              <a:t>docs.python.org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rId3"/>
              </a:rPr>
              <a:t>docs.python.org/3/library/functions.html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uFill>
                  <a:noFill/>
                </a:uFill>
                <a:hlinkClick r:id="rId3"/>
              </a:rPr>
              <a:t>https://docs.python.org/3/library/functions.html#print</a:t>
            </a:r>
            <a:r>
              <a:rPr lang="en" sz="2800"/>
              <a:t> </a:t>
            </a:r>
            <a:endParaRPr sz="28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print(*objects, sep=' ', end='\n', file=None, flush=False)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print(</a:t>
            </a:r>
            <a:r>
              <a:rPr lang="en" sz="2000">
                <a:solidFill>
                  <a:schemeClr val="lt1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*objects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, sep=' ', end='\n', file=None, flush=False)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print(*objects, </a:t>
            </a:r>
            <a:r>
              <a:rPr lang="en" sz="2000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sep=' '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, end='\n', file=None, flush=False)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print(*objects, sep=' ', </a:t>
            </a:r>
            <a:r>
              <a:rPr lang="en" sz="2000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end='\n'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, file=None, flush=False)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variables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9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49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49"/>
          <p:cNvSpPr txBox="1"/>
          <p:nvPr/>
        </p:nvSpPr>
        <p:spPr>
          <a:xfrm>
            <a:off x="4747500" y="1959300"/>
            <a:ext cx="3306600" cy="12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int counter = 0;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66" name="Google Shape;26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215125"/>
            <a:ext cx="2743200" cy="713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50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50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50"/>
          <p:cNvSpPr txBox="1"/>
          <p:nvPr/>
        </p:nvSpPr>
        <p:spPr>
          <a:xfrm>
            <a:off x="4747500" y="1959300"/>
            <a:ext cx="3306600" cy="12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 counter = 0;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74" name="Google Shape;27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215125"/>
            <a:ext cx="2743200" cy="713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51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51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51"/>
          <p:cNvSpPr txBox="1"/>
          <p:nvPr/>
        </p:nvSpPr>
        <p:spPr>
          <a:xfrm>
            <a:off x="4747500" y="1959300"/>
            <a:ext cx="3306600" cy="12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counter = 0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82" name="Google Shape;282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215125"/>
            <a:ext cx="2743200" cy="713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52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52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52"/>
          <p:cNvSpPr txBox="1"/>
          <p:nvPr/>
        </p:nvSpPr>
        <p:spPr>
          <a:xfrm>
            <a:off x="4747500" y="1959300"/>
            <a:ext cx="3306600" cy="12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counter = counter + 1;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90" name="Google Shape;29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247900"/>
            <a:ext cx="2743200" cy="64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3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53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53"/>
          <p:cNvSpPr txBox="1"/>
          <p:nvPr/>
        </p:nvSpPr>
        <p:spPr>
          <a:xfrm>
            <a:off x="4747500" y="1959300"/>
            <a:ext cx="3306600" cy="12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counter = counter + 1;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98" name="Google Shape;29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247900"/>
            <a:ext cx="2743200" cy="64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4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54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54"/>
          <p:cNvSpPr txBox="1"/>
          <p:nvPr/>
        </p:nvSpPr>
        <p:spPr>
          <a:xfrm>
            <a:off x="4747500" y="1959300"/>
            <a:ext cx="3306600" cy="12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counter = counter + 1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06" name="Google Shape;30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247900"/>
            <a:ext cx="2743200" cy="64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5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55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55"/>
          <p:cNvSpPr txBox="1"/>
          <p:nvPr/>
        </p:nvSpPr>
        <p:spPr>
          <a:xfrm>
            <a:off x="4747500" y="1959300"/>
            <a:ext cx="3306600" cy="12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counter += 1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14" name="Google Shape;314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247900"/>
            <a:ext cx="2743200" cy="64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bool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double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float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long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bool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float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str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range      </a:t>
            </a:r>
            <a:r>
              <a:rPr lang="en">
                <a:solidFill>
                  <a:srgbClr val="000000"/>
                </a:solidFill>
              </a:rPr>
              <a:t>sequence of numbers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list       </a:t>
            </a:r>
            <a:r>
              <a:rPr lang="en">
                <a:solidFill>
                  <a:srgbClr val="000000"/>
                </a:solidFill>
              </a:rPr>
              <a:t>sequence of mutable values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tuple      </a:t>
            </a:r>
            <a:r>
              <a:rPr lang="en">
                <a:solidFill>
                  <a:srgbClr val="000000"/>
                </a:solidFill>
              </a:rPr>
              <a:t>sequence of immutable values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dict       </a:t>
            </a:r>
            <a:r>
              <a:rPr lang="en">
                <a:solidFill>
                  <a:srgbClr val="000000"/>
                </a:solidFill>
              </a:rPr>
              <a:t>collection of key-value pairs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>
                <a:solidFill>
                  <a:srgbClr val="000000"/>
                </a:solidFill>
              </a:rPr>
              <a:t>collection of unique values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6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range      </a:t>
            </a:r>
            <a:r>
              <a:rPr lang="en">
                <a:solidFill>
                  <a:srgbClr val="666666"/>
                </a:solidFill>
              </a:rPr>
              <a:t>sequence of numbers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list       </a:t>
            </a:r>
            <a:r>
              <a:rPr lang="en">
                <a:solidFill>
                  <a:srgbClr val="666666"/>
                </a:solidFill>
              </a:rPr>
              <a:t>sequence of mutable values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tuple      </a:t>
            </a:r>
            <a:r>
              <a:rPr lang="en">
                <a:solidFill>
                  <a:srgbClr val="666666"/>
                </a:solidFill>
              </a:rPr>
              <a:t>sequence of immutable values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dict       </a:t>
            </a:r>
            <a:r>
              <a:rPr lang="en">
                <a:solidFill>
                  <a:srgbClr val="666666"/>
                </a:solidFill>
              </a:rPr>
              <a:t>collection of key-value pairs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>
                <a:solidFill>
                  <a:srgbClr val="666666"/>
                </a:solidFill>
              </a:rPr>
              <a:t>collection of unique values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get_char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get_double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get_float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get_int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get_long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get_string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6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get_float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get_int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get_string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6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cs50 import get_float</a:t>
            </a:r>
            <a:b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cs50 import get_int</a:t>
            </a:r>
            <a:b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cs50 import get_string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6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cs50 import get_float, get_int, get_string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6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conditionals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66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66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66"/>
          <p:cNvSpPr txBox="1"/>
          <p:nvPr/>
        </p:nvSpPr>
        <p:spPr>
          <a:xfrm>
            <a:off x="4477650" y="1692300"/>
            <a:ext cx="4376700" cy="17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if (x &lt; y)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printf("x is less than y\n");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72" name="Google Shape;372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824225"/>
            <a:ext cx="2743200" cy="14950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67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67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67"/>
          <p:cNvSpPr txBox="1"/>
          <p:nvPr/>
        </p:nvSpPr>
        <p:spPr>
          <a:xfrm>
            <a:off x="4477650" y="1692300"/>
            <a:ext cx="4376700" cy="17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(x &lt; y)</a:t>
            </a:r>
            <a:b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printf("x is less than y\n");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80" name="Google Shape;380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824225"/>
            <a:ext cx="2743200" cy="14950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68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68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68"/>
          <p:cNvSpPr txBox="1"/>
          <p:nvPr/>
        </p:nvSpPr>
        <p:spPr>
          <a:xfrm>
            <a:off x="4477650" y="1692300"/>
            <a:ext cx="4376700" cy="17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x &lt; y: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print("x is less than y")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88" name="Google Shape;388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824225"/>
            <a:ext cx="2743200" cy="14950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9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69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69"/>
          <p:cNvSpPr txBox="1"/>
          <p:nvPr/>
        </p:nvSpPr>
        <p:spPr>
          <a:xfrm>
            <a:off x="3972750" y="1384950"/>
            <a:ext cx="4856100" cy="23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if (x &lt; y)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printf("x is less than y\n");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else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printf("x is not less than y\n");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96" name="Google Shape;396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416200"/>
            <a:ext cx="2743200" cy="2311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70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70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70"/>
          <p:cNvSpPr txBox="1"/>
          <p:nvPr/>
        </p:nvSpPr>
        <p:spPr>
          <a:xfrm>
            <a:off x="3972750" y="1384950"/>
            <a:ext cx="4856100" cy="23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(x &lt; y)</a:t>
            </a:r>
            <a:b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printf("x is less than y\n");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printf("x is not less than y\n");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04" name="Google Shape;404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416200"/>
            <a:ext cx="2743200" cy="2311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71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71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71"/>
          <p:cNvSpPr txBox="1"/>
          <p:nvPr/>
        </p:nvSpPr>
        <p:spPr>
          <a:xfrm>
            <a:off x="3972750" y="1384950"/>
            <a:ext cx="4856100" cy="23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x &lt; y: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print("x is less than y")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else:</a:t>
            </a:r>
            <a:b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print("x is not less than y")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12" name="Google Shape;412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416200"/>
            <a:ext cx="2743200" cy="2311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72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72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72"/>
          <p:cNvSpPr txBox="1"/>
          <p:nvPr/>
        </p:nvSpPr>
        <p:spPr>
          <a:xfrm>
            <a:off x="3972750" y="1384950"/>
            <a:ext cx="4856100" cy="23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if (x &lt; y)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printf("x is less than y\n");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else if (x &gt; y)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printf("x is greater than y\n");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else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printf("x is equal to y\n");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20" name="Google Shape;420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513" y="755825"/>
            <a:ext cx="2610575" cy="363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73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73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73"/>
          <p:cNvSpPr txBox="1"/>
          <p:nvPr/>
        </p:nvSpPr>
        <p:spPr>
          <a:xfrm>
            <a:off x="3972750" y="1384950"/>
            <a:ext cx="4856100" cy="23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(x &lt; y)</a:t>
            </a:r>
            <a:b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printf("x is less than y\n");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else if (x &gt; y)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printf("x is greater than y\n");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printf("x is equal to y\n");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28" name="Google Shape;428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513" y="755825"/>
            <a:ext cx="2610575" cy="363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74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74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74"/>
          <p:cNvSpPr txBox="1"/>
          <p:nvPr/>
        </p:nvSpPr>
        <p:spPr>
          <a:xfrm>
            <a:off x="3972750" y="1384950"/>
            <a:ext cx="4856100" cy="23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x &lt; y: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print("x is less than y")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elif x &gt; y:</a:t>
            </a:r>
            <a:b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print("x is greater than y")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else:</a:t>
            </a:r>
            <a:b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print("x is equal to y")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36" name="Google Shape;436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513" y="755825"/>
            <a:ext cx="2610575" cy="363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7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str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7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object-oriented programming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7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OOP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7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uFill>
                  <a:noFill/>
                </a:uFill>
                <a:hlinkClick r:id="rId3"/>
              </a:rPr>
              <a:t>docs.python.org/3/library/stdtypes.html#string-methods</a:t>
            </a:r>
            <a:r>
              <a:rPr lang="en" sz="2700"/>
              <a:t> </a:t>
            </a:r>
            <a:endParaRPr sz="270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7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loops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80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80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80"/>
          <p:cNvSpPr txBox="1"/>
          <p:nvPr/>
        </p:nvSpPr>
        <p:spPr>
          <a:xfrm>
            <a:off x="4150650" y="1692463"/>
            <a:ext cx="4500300" cy="17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int i = 0;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while (i &lt; 3)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printf("meow\n");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i++;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69" name="Google Shape;469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803650"/>
            <a:ext cx="1828800" cy="1536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81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81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81"/>
          <p:cNvSpPr txBox="1"/>
          <p:nvPr/>
        </p:nvSpPr>
        <p:spPr>
          <a:xfrm>
            <a:off x="4150650" y="1692463"/>
            <a:ext cx="4500300" cy="17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 i = 0;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while (i &lt; 3)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printf("meow\n");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i++;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77" name="Google Shape;477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803650"/>
            <a:ext cx="1828800" cy="1536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82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82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82"/>
          <p:cNvSpPr txBox="1"/>
          <p:nvPr/>
        </p:nvSpPr>
        <p:spPr>
          <a:xfrm>
            <a:off x="4150650" y="1692463"/>
            <a:ext cx="4500300" cy="17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 = 0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while i &lt; 3: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print("meow")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 += 1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85" name="Google Shape;485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803650"/>
            <a:ext cx="1828800" cy="1536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83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83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83"/>
          <p:cNvSpPr txBox="1"/>
          <p:nvPr/>
        </p:nvSpPr>
        <p:spPr>
          <a:xfrm>
            <a:off x="4150650" y="1692463"/>
            <a:ext cx="4500300" cy="17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for (int i = 0; i &lt; 3; i++)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printf("meow\n");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93" name="Google Shape;493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803650"/>
            <a:ext cx="1828800" cy="1536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84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84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84"/>
          <p:cNvSpPr txBox="1"/>
          <p:nvPr/>
        </p:nvSpPr>
        <p:spPr>
          <a:xfrm>
            <a:off x="4150650" y="1692463"/>
            <a:ext cx="4500300" cy="17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for (int i = 0; i &lt; 3; i++)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printf("meow\n");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01" name="Google Shape;501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803650"/>
            <a:ext cx="1828800" cy="1536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85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85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85"/>
          <p:cNvSpPr txBox="1"/>
          <p:nvPr/>
        </p:nvSpPr>
        <p:spPr>
          <a:xfrm>
            <a:off x="4150650" y="1692463"/>
            <a:ext cx="4500300" cy="17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for i in [0, 1, 2]: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print("meow")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09" name="Google Shape;509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803650"/>
            <a:ext cx="1828800" cy="1536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86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86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86"/>
          <p:cNvSpPr txBox="1"/>
          <p:nvPr/>
        </p:nvSpPr>
        <p:spPr>
          <a:xfrm>
            <a:off x="4150650" y="1692463"/>
            <a:ext cx="4500300" cy="17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for i in range(3):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print("meow")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17" name="Google Shape;517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803650"/>
            <a:ext cx="1828800" cy="1536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87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87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87"/>
          <p:cNvSpPr txBox="1"/>
          <p:nvPr/>
        </p:nvSpPr>
        <p:spPr>
          <a:xfrm>
            <a:off x="4150650" y="1692463"/>
            <a:ext cx="4500300" cy="17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for _ in range(3):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print("meow")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25" name="Google Shape;525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803650"/>
            <a:ext cx="1828800" cy="1536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0" name="Google Shape;530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9988" y="152400"/>
            <a:ext cx="4024023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89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89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89"/>
          <p:cNvSpPr txBox="1"/>
          <p:nvPr/>
        </p:nvSpPr>
        <p:spPr>
          <a:xfrm>
            <a:off x="4477650" y="1692300"/>
            <a:ext cx="3846300" cy="17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while (true)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printf("meow\n");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38" name="Google Shape;538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849363"/>
            <a:ext cx="1828800" cy="1444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90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90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90"/>
          <p:cNvSpPr txBox="1"/>
          <p:nvPr/>
        </p:nvSpPr>
        <p:spPr>
          <a:xfrm>
            <a:off x="4477650" y="1692300"/>
            <a:ext cx="3846300" cy="17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while (true)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printf("meow\n");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46" name="Google Shape;546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849363"/>
            <a:ext cx="1828800" cy="1444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91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91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91"/>
          <p:cNvSpPr txBox="1"/>
          <p:nvPr/>
        </p:nvSpPr>
        <p:spPr>
          <a:xfrm>
            <a:off x="4477650" y="1692300"/>
            <a:ext cx="3846300" cy="17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while True: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print("meow")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54" name="Google Shape;554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849363"/>
            <a:ext cx="1828800" cy="1444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9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truncation</a:t>
            </a: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9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floating-point imprecision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9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integer overflow</a:t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9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exceptions</a:t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9" name="Google Shape;579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9" name="Google Shape;589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9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list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0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uFill>
                  <a:noFill/>
                </a:uFill>
                <a:hlinkClick r:id="rId3"/>
              </a:rPr>
              <a:t>docs.python.org/3/library/stdtypes.html#sequence-types-list-tuple-range</a:t>
            </a:r>
            <a:r>
              <a:rPr lang="en" sz="2000"/>
              <a:t> </a:t>
            </a:r>
            <a:endParaRPr sz="200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len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10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uFill>
                  <a:noFill/>
                </a:uFill>
                <a:hlinkClick r:id="rId3"/>
              </a:rPr>
              <a:t>docs.python.org/3/library/functions.html#len</a:t>
            </a:r>
            <a:r>
              <a:rPr lang="en" sz="3400"/>
              <a:t> </a:t>
            </a:r>
            <a:endParaRPr sz="340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10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dict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9" name="Google Shape;619;p104"/>
          <p:cNvGraphicFramePr/>
          <p:nvPr/>
        </p:nvGraphicFramePr>
        <p:xfrm>
          <a:off x="952500" y="895375"/>
          <a:ext cx="7239000" cy="3505140"/>
        </p:xfrm>
        <a:graphic>
          <a:graphicData uri="http://schemas.openxmlformats.org/drawingml/2006/table">
            <a:tbl>
              <a:tblPr>
                <a:noFill/>
                <a:tableStyleId>{163AE767-87C0-4C50-8EB2-9E51FD94263C}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</a:rPr>
                        <a:t>key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</a:rPr>
                        <a:t>value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0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uFill>
                  <a:noFill/>
                </a:uFill>
                <a:hlinkClick r:id="rId3"/>
              </a:rPr>
              <a:t>docs.python.org/3/library/stdtypes.html#mapping-types-dict</a:t>
            </a:r>
            <a:endParaRPr sz="250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10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sys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0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rId3"/>
              </a:rPr>
              <a:t>docs.python.org/3/library/sys.html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10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csv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10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rId3"/>
              </a:rPr>
              <a:t>docs.python.org/3/library/csv.html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11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pip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4" name="Google Shape;654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1630</Words>
  <Application>Microsoft Office PowerPoint</Application>
  <PresentationFormat>On-screen Show (16:9)</PresentationFormat>
  <Paragraphs>258</Paragraphs>
  <Slides>100</Slides>
  <Notes>100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100</vt:i4>
      </vt:variant>
    </vt:vector>
  </HeadingPairs>
  <TitlesOfParts>
    <vt:vector size="103" baseType="lpstr">
      <vt:lpstr>Arial</vt:lpstr>
      <vt:lpstr>Consolas</vt:lpstr>
      <vt:lpstr>Simple Dark</vt:lpstr>
      <vt:lpstr>بسم الله الرحمن الرحیم</vt:lpstr>
      <vt:lpstr>CS101 Introduction to  Computer Science</vt:lpstr>
      <vt:lpstr>Lecture 16</vt:lpstr>
      <vt:lpstr>Python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compiled, interpreted</vt:lpstr>
      <vt:lpstr>functions</vt:lpstr>
      <vt:lpstr>PowerPoint Presentation</vt:lpstr>
      <vt:lpstr>PowerPoint Presentation</vt:lpstr>
      <vt:lpstr>PowerPoint Presentation</vt:lpstr>
      <vt:lpstr>PowerPoint Presentation</vt:lpstr>
      <vt:lpstr>libraries</vt:lpstr>
      <vt:lpstr>modules, packages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positional parameters</vt:lpstr>
      <vt:lpstr>named parameters</vt:lpstr>
      <vt:lpstr>docs.python.org</vt:lpstr>
      <vt:lpstr>docs.python.org/3/library/functions.html </vt:lpstr>
      <vt:lpstr>https://docs.python.org/3/library/functions.html#print </vt:lpstr>
      <vt:lpstr>print(*objects, sep=' ', end='\n', file=None, flush=False)</vt:lpstr>
      <vt:lpstr>print(*objects, sep=' ', end='\n', file=None, flush=False)</vt:lpstr>
      <vt:lpstr>print(*objects, sep=' ', end='\n', file=None, flush=False)</vt:lpstr>
      <vt:lpstr>print(*objects, sep=' ', end='\n', file=None, flush=False)</vt:lpstr>
      <vt:lpstr>variables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types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conditionals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str</vt:lpstr>
      <vt:lpstr>object-oriented programming</vt:lpstr>
      <vt:lpstr>OOP</vt:lpstr>
      <vt:lpstr>docs.python.org/3/library/stdtypes.html#string-methods </vt:lpstr>
      <vt:lpstr>loops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truncation</vt:lpstr>
      <vt:lpstr>floating-point imprecision</vt:lpstr>
      <vt:lpstr>integer overflow</vt:lpstr>
      <vt:lpstr>exceptions</vt:lpstr>
      <vt:lpstr>PowerPoint Presentation</vt:lpstr>
      <vt:lpstr>PowerPoint Presentation</vt:lpstr>
      <vt:lpstr>PowerPoint Presentation</vt:lpstr>
      <vt:lpstr>list</vt:lpstr>
      <vt:lpstr>docs.python.org/3/library/stdtypes.html#sequence-types-list-tuple-range </vt:lpstr>
      <vt:lpstr>len</vt:lpstr>
      <vt:lpstr>docs.python.org/3/library/functions.html#len </vt:lpstr>
      <vt:lpstr>dict</vt:lpstr>
      <vt:lpstr>PowerPoint Presentation</vt:lpstr>
      <vt:lpstr>docs.python.org/3/library/stdtypes.html#mapping-types-dict</vt:lpstr>
      <vt:lpstr>sys</vt:lpstr>
      <vt:lpstr>docs.python.org/3/library/sys.html </vt:lpstr>
      <vt:lpstr>csv</vt:lpstr>
      <vt:lpstr>docs.python.org/3/library/csv.html </vt:lpstr>
      <vt:lpstr>pip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</dc:creator>
  <cp:lastModifiedBy>milestone</cp:lastModifiedBy>
  <cp:revision>3</cp:revision>
  <dcterms:modified xsi:type="dcterms:W3CDTF">2025-06-15T05:51:49Z</dcterms:modified>
</cp:coreProperties>
</file>