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67"/>
  </p:notesMasterIdLst>
  <p:sldIdLst>
    <p:sldId id="384" r:id="rId2"/>
    <p:sldId id="256" r:id="rId3"/>
    <p:sldId id="370" r:id="rId4"/>
    <p:sldId id="385" r:id="rId5"/>
    <p:sldId id="371" r:id="rId6"/>
    <p:sldId id="395" r:id="rId7"/>
    <p:sldId id="363" r:id="rId8"/>
    <p:sldId id="367" r:id="rId9"/>
    <p:sldId id="364" r:id="rId10"/>
    <p:sldId id="386" r:id="rId11"/>
    <p:sldId id="387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7" r:id="rId40"/>
    <p:sldId id="298" r:id="rId41"/>
    <p:sldId id="299" r:id="rId42"/>
    <p:sldId id="300" r:id="rId43"/>
    <p:sldId id="303" r:id="rId44"/>
    <p:sldId id="308" r:id="rId45"/>
    <p:sldId id="309" r:id="rId46"/>
    <p:sldId id="310" r:id="rId47"/>
    <p:sldId id="312" r:id="rId48"/>
    <p:sldId id="315" r:id="rId49"/>
    <p:sldId id="316" r:id="rId50"/>
    <p:sldId id="317" r:id="rId51"/>
    <p:sldId id="318" r:id="rId52"/>
    <p:sldId id="321" r:id="rId53"/>
    <p:sldId id="322" r:id="rId54"/>
    <p:sldId id="323" r:id="rId55"/>
    <p:sldId id="332" r:id="rId56"/>
    <p:sldId id="333" r:id="rId57"/>
    <p:sldId id="380" r:id="rId58"/>
    <p:sldId id="334" r:id="rId59"/>
    <p:sldId id="335" r:id="rId60"/>
    <p:sldId id="336" r:id="rId61"/>
    <p:sldId id="337" r:id="rId62"/>
    <p:sldId id="338" r:id="rId63"/>
    <p:sldId id="396" r:id="rId64"/>
    <p:sldId id="398" r:id="rId65"/>
    <p:sldId id="399" r:id="rId6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162ABB-EB27-4617-91C8-067A35F8564E}">
  <a:tblStyle styleId="{76162ABB-EB27-4617-91C8-067A35F856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69" autoAdjust="0"/>
    <p:restoredTop sz="85207" autoAdjust="0"/>
  </p:normalViewPr>
  <p:slideViewPr>
    <p:cSldViewPr snapToGrid="0">
      <p:cViewPr varScale="1">
        <p:scale>
          <a:sx n="82" d="100"/>
          <a:sy n="82" d="100"/>
        </p:scale>
        <p:origin x="464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sciichart.com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ritish_and_American_keyboards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p3q9MM__h-M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pple.com/us/app/contacts/id1069512615#?platform=iphone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yourself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a-IR" dirty="0"/>
              <a:t>ان شاء الله که وخت خوب و پربرکت خواهیم داشت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0149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yourself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a-IR" dirty="0"/>
              <a:t>ان شاء الله که وخت خوب و پربرکت خواهیم داشت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5752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Name, education, experience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Ask student to introduce themselves? How many of them have prior programming experience? School or university?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193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teaching: only tells you how to do something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Training: correct your mistakes and guides you through each step. </a:t>
            </a:r>
          </a:p>
        </p:txBody>
      </p:sp>
    </p:spTree>
    <p:extLst>
      <p:ext uri="{BB962C8B-B14F-4D97-AF65-F5344CB8AC3E}">
        <p14:creationId xmlns:p14="http://schemas.microsoft.com/office/powerpoint/2010/main" val="2451917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teaching: only tells you how to do something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Training: correct your mistakes and guides you through each step. </a:t>
            </a:r>
          </a:p>
        </p:txBody>
      </p:sp>
    </p:spTree>
    <p:extLst>
      <p:ext uri="{BB962C8B-B14F-4D97-AF65-F5344CB8AC3E}">
        <p14:creationId xmlns:p14="http://schemas.microsoft.com/office/powerpoint/2010/main" val="3622103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teaching philosophy: learn by doing. </a:t>
            </a:r>
          </a:p>
          <a:p>
            <a:r>
              <a:rPr lang="fa-IR" dirty="0"/>
              <a:t>چطور در یک شهر نو بلد میشوید. </a:t>
            </a:r>
          </a:p>
          <a:p>
            <a:r>
              <a:rPr lang="fa-IR" dirty="0"/>
              <a:t>اول چیز های را یاد بگیر که زیاد سروکار داشته باشی همرایش.</a:t>
            </a:r>
            <a:endParaRPr lang="en-US" dirty="0"/>
          </a:p>
          <a:p>
            <a:r>
              <a:rPr lang="en-US" dirty="0"/>
              <a:t>Course suggestion: learning how to learn on Coursera.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026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yourself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a-IR" dirty="0"/>
              <a:t>ان شاء الله که وخت خوب و پربرکت خواهیم داشت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8296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16215f433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16215f433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Representations: counting on hand, counting with decimal, but computers only have 0s and 1s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Basically computer does 5 basic operations that are input, output, process, storing and controlling.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7443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ed3b88704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ed3b88704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4fba800c4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4fba800c4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1c0602a78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1c0602a78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1c0602a78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1c0602a78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1c0602a78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1c0602a78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1c0602a78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1c0602a78_1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1c0602a78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41c0602a78_1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1c0602a78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1c0602a78_1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41c0602a78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41c0602a78_1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41c0602a78_1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41c0602a78_1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41c0602a78_1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41c0602a78_1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why 1, 10, and 100?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41c0602a78_1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41c0602a78_1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41c0602a78_1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41c0602a78_1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94fba800c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94fba800c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41c0602a78_1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41c0602a78_1_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41c0602a78_1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41c0602a78_1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41c0602a78_1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41c0602a78_1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1c0602a78_1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41c0602a78_1_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41c0602a78_1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41c0602a78_1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41c0602a78_1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41c0602a78_1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41c0602a78_1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41c0602a78_1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41c0602a78_1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41c0602a78_1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409d1a31b6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409d1a31b6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409d1a31b6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409d1a31b6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41bd77602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41bd77602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409d1a31b6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409d1a31b6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409d1a31b6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409d1a31b6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94fba800c4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94fba800c4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ec4a7e6be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ec4a7e6be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94fba800c4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94fba800c4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bytes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09d1a31b6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09d1a31b6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https://en.wikipedia.org/wiki/British_and_American_keyboards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how to represent other symbols?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409d1a31b6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409d1a31b6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409d1a31b6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409d1a31b6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be #484921ff, but brightened for projectors.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409d1a31b6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409d1a31b6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41c0602a78_1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41c0602a78_1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41c0602a78_1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41c0602a78_1_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409d1a31b6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409d1a31b6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409d1a31b6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409d1a31b6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409d1a31b6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409d1a31b6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94fba800c4_0_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94fba800c4_0_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https://youtu.be/p3q9MM__h-M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416215f433_1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416215f433_1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416215f433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416215f433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94fba800c4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94fba800c4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https://apps.apple.com/us/app/contacts/id1069512615#?platform=iphone</a:t>
            </a:r>
            <a:r>
              <a:rPr lang="en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409d1a31b6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409d1a31b6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41907da2bc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41907da2bc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41907da2bc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41907da2bc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8882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41907da2bc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41907da2bc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41907da2bc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41907da2bc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41907da2bc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41907da2bc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41907da2bc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41907da2bc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41907da2b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41907da2bc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416215f433_1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416215f433_1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40266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416215f433_1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416215f433_1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151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6" name="Google Shape;15;p3">
            <a:extLst>
              <a:ext uri="{FF2B5EF4-FFF2-40B4-BE49-F238E27FC236}">
                <a16:creationId xmlns:a16="http://schemas.microsoft.com/office/drawing/2014/main" id="{5A2C4E12-F81D-CC35-4E06-36BC432BE472}"/>
              </a:ext>
            </a:extLst>
          </p:cNvPr>
          <p:cNvSpPr txBox="1">
            <a:spLocks/>
          </p:cNvSpPr>
          <p:nvPr userDrawn="1"/>
        </p:nvSpPr>
        <p:spPr>
          <a:xfrm>
            <a:off x="7178892" y="4663217"/>
            <a:ext cx="172110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© 2022 Milestone Institute</a:t>
            </a:r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mojipedia.org/hand-with-fingers-splayed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sz78_07Xg-U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s-AF" sz="3200" dirty="0"/>
              <a:t>بسم الله الرحمن الرحیم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66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810492"/>
            <a:ext cx="8520600" cy="1522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CS101</a:t>
            </a:r>
            <a:br>
              <a:rPr lang="en" sz="4800" dirty="0"/>
            </a:br>
            <a:r>
              <a:rPr lang="en" sz="4800" dirty="0"/>
              <a:t>Introduction to </a:t>
            </a:r>
            <a:br>
              <a:rPr lang="en" sz="4800" dirty="0"/>
            </a:br>
            <a:r>
              <a:rPr lang="en" sz="4800" dirty="0"/>
              <a:t>Computer Science</a:t>
            </a:r>
            <a:endParaRPr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Welcome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65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6C79-6E2D-13DF-F07C-8639BE40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3B7DF-A96A-4D61-A15F-DB4BE1D8B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</a:t>
            </a:r>
          </a:p>
          <a:p>
            <a:r>
              <a:rPr lang="en-US" dirty="0">
                <a:solidFill>
                  <a:schemeClr val="tx1"/>
                </a:solidFill>
              </a:rPr>
              <a:t>Course Structure</a:t>
            </a:r>
          </a:p>
          <a:p>
            <a:r>
              <a:rPr lang="en-US" dirty="0">
                <a:solidFill>
                  <a:schemeClr val="tx1"/>
                </a:solidFill>
              </a:rPr>
              <a:t>Algorithms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82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Introduction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551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Course Structure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41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339D-112B-1376-54C7-86D37A22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3DD94-9CE8-00BE-FFA1-84FF1CDDA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Basics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Arrays</a:t>
            </a:r>
          </a:p>
          <a:p>
            <a:r>
              <a:rPr lang="en-US" dirty="0"/>
              <a:t>Algorithms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Data Structure</a:t>
            </a:r>
          </a:p>
          <a:p>
            <a:r>
              <a:rPr lang="en-US" dirty="0"/>
              <a:t>Python </a:t>
            </a:r>
          </a:p>
          <a:p>
            <a:r>
              <a:rPr lang="en-US" dirty="0"/>
              <a:t>SQL</a:t>
            </a:r>
          </a:p>
          <a:p>
            <a:r>
              <a:rPr lang="en-US" dirty="0"/>
              <a:t>HTML, CSS, </a:t>
            </a:r>
            <a:r>
              <a:rPr lang="en-US" dirty="0" err="1"/>
              <a:t>Javascript</a:t>
            </a:r>
            <a:endParaRPr lang="en-US" dirty="0"/>
          </a:p>
          <a:p>
            <a:r>
              <a:rPr lang="en-US" dirty="0"/>
              <a:t>Flask</a:t>
            </a:r>
          </a:p>
          <a:p>
            <a:r>
              <a:rPr lang="en-US" dirty="0"/>
              <a:t>Cyber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53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Teaching vs Training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9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B41A66-59E4-073D-641C-50148544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</p:spPr>
        <p:txBody>
          <a:bodyPr/>
          <a:lstStyle/>
          <a:p>
            <a:pPr algn="ctr"/>
            <a:r>
              <a:rPr lang="fa-IR" sz="6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عالم بی عمل – درخت بی ثمر</a:t>
            </a:r>
            <a:endParaRPr lang="en-US" sz="6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9837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Computer Science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980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8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FFFF"/>
                </a:solidFill>
              </a:rPr>
              <a:t>input →  </a:t>
            </a:r>
            <a:endParaRPr sz="3600" dirty="0">
              <a:solidFill>
                <a:srgbClr val="FFFFFF"/>
              </a:solidFill>
            </a:endParaRPr>
          </a:p>
        </p:txBody>
      </p:sp>
      <p:sp>
        <p:nvSpPr>
          <p:cNvPr id="117" name="Google Shape;117;p2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FFFF"/>
                </a:solidFill>
              </a:rPr>
              <a:t> → output</a:t>
            </a:r>
            <a:endParaRPr sz="3600" dirty="0">
              <a:solidFill>
                <a:srgbClr val="FFFFFF"/>
              </a:solidFill>
            </a:endParaRPr>
          </a:p>
        </p:txBody>
      </p:sp>
      <p:sp>
        <p:nvSpPr>
          <p:cNvPr id="3" name="Google Shape;117;p28">
            <a:extLst>
              <a:ext uri="{FF2B5EF4-FFF2-40B4-BE49-F238E27FC236}">
                <a16:creationId xmlns:a16="http://schemas.microsoft.com/office/drawing/2014/main" id="{681518D5-65FA-8138-9452-7E2B9462B4E4}"/>
              </a:ext>
            </a:extLst>
          </p:cNvPr>
          <p:cNvSpPr txBox="1"/>
          <p:nvPr/>
        </p:nvSpPr>
        <p:spPr>
          <a:xfrm>
            <a:off x="3461850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FFFF"/>
                </a:solidFill>
              </a:rPr>
              <a:t>Process</a:t>
            </a:r>
            <a:endParaRPr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74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/>
        </p:nvSpPr>
        <p:spPr>
          <a:xfrm>
            <a:off x="2641464" y="1581962"/>
            <a:ext cx="3861072" cy="19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3800" b="1" dirty="0"/>
              <a:t>🖐️</a:t>
            </a:r>
            <a:endParaRPr lang="en-US" sz="13800" b="1" dirty="0">
              <a:hlinkClick r:id="rId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8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38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9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39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75" name="Google Shape;175;p39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0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40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82" name="Google Shape;182;p40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83" name="Google Shape;183;p40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41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90" name="Google Shape;190;p41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91" name="Google Shape;191;p41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92" name="Google Shape;192;p41"/>
          <p:cNvSpPr txBox="1"/>
          <p:nvPr/>
        </p:nvSpPr>
        <p:spPr>
          <a:xfrm>
            <a:off x="26894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 × 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" name="Google Shape;198;p42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99" name="Google Shape;199;p42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00" name="Google Shape;200;p42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01" name="Google Shape;201;p42"/>
          <p:cNvSpPr txBox="1"/>
          <p:nvPr/>
        </p:nvSpPr>
        <p:spPr>
          <a:xfrm>
            <a:off x="26894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 × 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02" name="Google Shape;202;p42"/>
          <p:cNvSpPr txBox="1"/>
          <p:nvPr/>
        </p:nvSpPr>
        <p:spPr>
          <a:xfrm>
            <a:off x="4045319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 × 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03" name="Google Shape;203;p42"/>
          <p:cNvSpPr txBox="1"/>
          <p:nvPr/>
        </p:nvSpPr>
        <p:spPr>
          <a:xfrm>
            <a:off x="33988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3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43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10" name="Google Shape;210;p43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11" name="Google Shape;211;p43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12" name="Google Shape;212;p43"/>
          <p:cNvSpPr txBox="1"/>
          <p:nvPr/>
        </p:nvSpPr>
        <p:spPr>
          <a:xfrm>
            <a:off x="26894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 × 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13" name="Google Shape;213;p43"/>
          <p:cNvSpPr txBox="1"/>
          <p:nvPr/>
        </p:nvSpPr>
        <p:spPr>
          <a:xfrm>
            <a:off x="4045319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 × 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14" name="Google Shape;214;p43"/>
          <p:cNvSpPr txBox="1"/>
          <p:nvPr/>
        </p:nvSpPr>
        <p:spPr>
          <a:xfrm>
            <a:off x="5505014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 × 3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15" name="Google Shape;215;p43"/>
          <p:cNvSpPr txBox="1"/>
          <p:nvPr/>
        </p:nvSpPr>
        <p:spPr>
          <a:xfrm>
            <a:off x="33988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16" name="Google Shape;216;p43"/>
          <p:cNvSpPr txBox="1"/>
          <p:nvPr/>
        </p:nvSpPr>
        <p:spPr>
          <a:xfrm>
            <a:off x="4829159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4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44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23" name="Google Shape;223;p44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24" name="Google Shape;224;p44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25" name="Google Shape;225;p44"/>
          <p:cNvSpPr txBox="1"/>
          <p:nvPr/>
        </p:nvSpPr>
        <p:spPr>
          <a:xfrm>
            <a:off x="26894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26" name="Google Shape;226;p44"/>
          <p:cNvSpPr txBox="1"/>
          <p:nvPr/>
        </p:nvSpPr>
        <p:spPr>
          <a:xfrm>
            <a:off x="4045319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27" name="Google Shape;227;p44"/>
          <p:cNvSpPr txBox="1"/>
          <p:nvPr/>
        </p:nvSpPr>
        <p:spPr>
          <a:xfrm>
            <a:off x="5505014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3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28" name="Google Shape;228;p44"/>
          <p:cNvSpPr txBox="1"/>
          <p:nvPr/>
        </p:nvSpPr>
        <p:spPr>
          <a:xfrm>
            <a:off x="33988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29" name="Google Shape;229;p44"/>
          <p:cNvSpPr txBox="1"/>
          <p:nvPr/>
        </p:nvSpPr>
        <p:spPr>
          <a:xfrm>
            <a:off x="4829159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5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6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0" name="Google Shape;240;p46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41" name="Google Shape;241;p46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42" name="Google Shape;242;p46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7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248" name="Google Shape;248;p47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r>
              <a:rPr lang="en" sz="1800" baseline="30000">
                <a:solidFill>
                  <a:srgbClr val="FFFFFF"/>
                </a:solidFill>
              </a:rPr>
              <a:t>2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249" name="Google Shape;249;p47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r>
              <a:rPr lang="en" sz="1800" baseline="30000">
                <a:solidFill>
                  <a:srgbClr val="FFFFFF"/>
                </a:solidFill>
              </a:rPr>
              <a:t>1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250" name="Google Shape;250;p47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r>
              <a:rPr lang="en" sz="1800" baseline="30000">
                <a:solidFill>
                  <a:srgbClr val="FFFFFF"/>
                </a:solidFill>
              </a:rPr>
              <a:t>0</a:t>
            </a:r>
            <a:endParaRPr sz="1800" baseline="30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8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256" name="Google Shape;256;p48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r>
              <a:rPr lang="en" sz="1800" baseline="30000">
                <a:solidFill>
                  <a:srgbClr val="FFFFFF"/>
                </a:solidFill>
              </a:rPr>
              <a:t>2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257" name="Google Shape;257;p48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r>
              <a:rPr lang="en" sz="1800" baseline="30000">
                <a:solidFill>
                  <a:srgbClr val="FFFFFF"/>
                </a:solidFill>
              </a:rPr>
              <a:t>1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258" name="Google Shape;258;p48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r>
              <a:rPr lang="en" sz="1800" baseline="30000">
                <a:solidFill>
                  <a:srgbClr val="FFFFFF"/>
                </a:solidFill>
              </a:rPr>
              <a:t>0</a:t>
            </a:r>
            <a:endParaRPr sz="1800" baseline="30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9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264" name="Google Shape;264;p49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265" name="Google Shape;265;p49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266" name="Google Shape;266;p49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 baseline="30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" name="Google Shape;272;p50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73" name="Google Shape;273;p50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74" name="Google Shape;274;p50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51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81" name="Google Shape;281;p51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82" name="Google Shape;282;p51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2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010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8" name="Google Shape;288;p52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89" name="Google Shape;289;p52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90" name="Google Shape;290;p52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011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6" name="Google Shape;296;p53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97" name="Google Shape;297;p53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98" name="Google Shape;298;p53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" name="Google Shape;304;p54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05" name="Google Shape;305;p54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06" name="Google Shape;306;p54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55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13" name="Google Shape;313;p55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14" name="Google Shape;314;p55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" name="Google Shape;320;p56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21" name="Google Shape;321;p56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22" name="Google Shape;322;p56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7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57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29" name="Google Shape;329;p57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30" name="Google Shape;330;p57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8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9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65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0"/>
          <p:cNvSpPr txBox="1"/>
          <p:nvPr/>
        </p:nvSpPr>
        <p:spPr>
          <a:xfrm>
            <a:off x="1026300" y="1780500"/>
            <a:ext cx="70914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01000001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ASCII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Google Shape;355;p62"/>
          <p:cNvGraphicFramePr/>
          <p:nvPr/>
        </p:nvGraphicFramePr>
        <p:xfrm>
          <a:off x="383063" y="2026950"/>
          <a:ext cx="8377875" cy="1097220"/>
        </p:xfrm>
        <a:graphic>
          <a:graphicData uri="http://schemas.openxmlformats.org/drawingml/2006/table">
            <a:tbl>
              <a:tblPr>
                <a:noFill/>
                <a:tableStyleId>{76162ABB-EB27-4617-91C8-067A35F8564E}</a:tableStyleId>
              </a:tblPr>
              <a:tblGrid>
                <a:gridCol w="76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1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67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68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70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71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0" name="Google Shape;380;p67"/>
          <p:cNvGraphicFramePr/>
          <p:nvPr/>
        </p:nvGraphicFramePr>
        <p:xfrm>
          <a:off x="952500" y="1750738"/>
          <a:ext cx="7239000" cy="1645830"/>
        </p:xfrm>
        <a:graphic>
          <a:graphicData uri="http://schemas.openxmlformats.org/drawingml/2006/table">
            <a:tbl>
              <a:tblPr>
                <a:noFill/>
                <a:tableStyleId>{76162ABB-EB27-4617-91C8-067A35F8564E}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" name="Google Shape;385;p68"/>
          <p:cNvGraphicFramePr/>
          <p:nvPr/>
        </p:nvGraphicFramePr>
        <p:xfrm>
          <a:off x="952500" y="1750738"/>
          <a:ext cx="7239000" cy="1645830"/>
        </p:xfrm>
        <a:graphic>
          <a:graphicData uri="http://schemas.openxmlformats.org/drawingml/2006/table">
            <a:tbl>
              <a:tblPr>
                <a:noFill/>
                <a:tableStyleId>{76162ABB-EB27-4617-91C8-067A35F8564E}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01001000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01001001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00100001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300163"/>
            <a:ext cx="76200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Unicode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" name="Google Shape;430;p77"/>
          <p:cNvGraphicFramePr/>
          <p:nvPr/>
        </p:nvGraphicFramePr>
        <p:xfrm>
          <a:off x="3646975" y="2299338"/>
          <a:ext cx="1850025" cy="548610"/>
        </p:xfrm>
        <a:graphic>
          <a:graphicData uri="http://schemas.openxmlformats.org/drawingml/2006/table">
            <a:tbl>
              <a:tblPr>
                <a:noFill/>
                <a:tableStyleId>{76162ABB-EB27-4617-91C8-067A35F8564E}</a:tableStyleId>
              </a:tblPr>
              <a:tblGrid>
                <a:gridCol w="61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B6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RGB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" name="Google Shape;440;p79"/>
          <p:cNvGraphicFramePr/>
          <p:nvPr/>
        </p:nvGraphicFramePr>
        <p:xfrm>
          <a:off x="3646975" y="2299338"/>
          <a:ext cx="1850025" cy="548610"/>
        </p:xfrm>
        <a:graphic>
          <a:graphicData uri="http://schemas.openxmlformats.org/drawingml/2006/table">
            <a:tbl>
              <a:tblPr>
                <a:noFill/>
                <a:tableStyleId>{76162ABB-EB27-4617-91C8-067A35F8564E}</a:tableStyleId>
              </a:tblPr>
              <a:tblGrid>
                <a:gridCol w="61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" name="Google Shape;450;p81"/>
          <p:cNvGraphicFramePr/>
          <p:nvPr/>
        </p:nvGraphicFramePr>
        <p:xfrm>
          <a:off x="3646975" y="2299338"/>
          <a:ext cx="1850025" cy="548610"/>
        </p:xfrm>
        <a:graphic>
          <a:graphicData uri="http://schemas.openxmlformats.org/drawingml/2006/table">
            <a:tbl>
              <a:tblPr>
                <a:noFill/>
                <a:tableStyleId>{76162ABB-EB27-4617-91C8-067A35F8564E}</a:tableStyleId>
              </a:tblPr>
              <a:tblGrid>
                <a:gridCol w="61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63" y="152400"/>
            <a:ext cx="793407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63" y="152400"/>
            <a:ext cx="793407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63" y="152400"/>
            <a:ext cx="793407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87" descr="Source: https://youtu.be/p3q9MM__h-M" title="Grumpy Cloud FLIPBOOK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0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90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497" name="Google Shape;497;p90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503" name="Google Shape;503;p91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B50830-7975-9E76-8784-F060264AF9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277"/>
          <a:stretch/>
        </p:blipFill>
        <p:spPr>
          <a:xfrm>
            <a:off x="1814755" y="452848"/>
            <a:ext cx="5514489" cy="423780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2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word is on page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	  Read the Definition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2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  <a:endParaRPr sz="2200" dirty="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</a:t>
            </a:r>
            <a:r>
              <a:rPr lang="en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page</a:t>
            </a:r>
            <a:endParaRPr sz="2200" dirty="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word is on page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	  Read the </a:t>
            </a:r>
            <a:r>
              <a:rPr lang="en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Definition</a:t>
            </a:r>
            <a:endParaRPr sz="2200" dirty="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dictionary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7570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03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</a:t>
            </a:r>
            <a:r>
              <a:rPr lang="en-US" sz="2200" dirty="0">
                <a:solidFill>
                  <a:srgbClr val="FFFF00"/>
                </a:solidFill>
                <a:latin typeface="Consolas"/>
                <a:sym typeface="Consolas"/>
              </a:rPr>
              <a:t>Pick up 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Open to 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middle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Look at 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word is on page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	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the Definition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-U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dictionary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Open to 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middle of left half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-U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dictionary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Open to 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middle of right half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Quit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04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word is on page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	  Read the Definition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Else if </a:t>
            </a:r>
            <a:r>
              <a:rPr lang="en-U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dictionary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Else if </a:t>
            </a:r>
            <a:r>
              <a:rPr lang="en-U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dictionary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5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word is on page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	  Read the Definition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word is earlier in dictionary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word is later in dictionary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6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word is on page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	  Read the Definition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-U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dictionary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Go back to line 3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-U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dictionary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dictionary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</a:t>
            </a:r>
            <a:r>
              <a:rPr lang="en-US" sz="2200" dirty="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Go back to line 3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 dirty="0">
                <a:solidFill>
                  <a:srgbClr val="FFFF00"/>
                </a:solidFill>
              </a:rPr>
              <a:t>functions</a:t>
            </a:r>
            <a:endParaRPr dirty="0">
              <a:solidFill>
                <a:srgbClr val="FFFF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 dirty="0">
                <a:solidFill>
                  <a:srgbClr val="FFFFFF"/>
                </a:solidFill>
              </a:rPr>
              <a:t>arguments, return values</a:t>
            </a:r>
            <a:endParaRPr dirty="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 dirty="0">
                <a:solidFill>
                  <a:srgbClr val="FFFF00"/>
                </a:solidFill>
              </a:rPr>
              <a:t>conditionals</a:t>
            </a:r>
            <a:endParaRPr dirty="0">
              <a:solidFill>
                <a:srgbClr val="FFFF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 dirty="0">
                <a:solidFill>
                  <a:srgbClr val="FFFF00"/>
                </a:solidFill>
              </a:rPr>
              <a:t>Boolean expressions</a:t>
            </a:r>
            <a:endParaRPr dirty="0">
              <a:solidFill>
                <a:srgbClr val="FFFF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 dirty="0">
                <a:solidFill>
                  <a:srgbClr val="FFFF00"/>
                </a:solidFill>
              </a:rPr>
              <a:t>loops</a:t>
            </a:r>
            <a:endParaRPr dirty="0">
              <a:solidFill>
                <a:srgbClr val="FFFF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dirty="0">
                <a:solidFill>
                  <a:srgbClr val="FFFF00"/>
                </a:solidFill>
              </a:rPr>
              <a:t>variables</a:t>
            </a:r>
            <a:endParaRPr dirty="0">
              <a:solidFill>
                <a:srgbClr val="FFFF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dirty="0">
                <a:solidFill>
                  <a:srgbClr val="FFFFFF"/>
                </a:solidFill>
              </a:rPr>
              <a:t>...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0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90"/>
          <p:cNvSpPr txBox="1"/>
          <p:nvPr/>
        </p:nvSpPr>
        <p:spPr>
          <a:xfrm>
            <a:off x="442619" y="2195550"/>
            <a:ext cx="2736759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</a:rPr>
              <a:t>Source Code </a:t>
            </a:r>
            <a:r>
              <a:rPr lang="en" sz="3600" dirty="0">
                <a:solidFill>
                  <a:srgbClr val="FFFFFF"/>
                </a:solidFill>
              </a:rPr>
              <a:t>→  </a:t>
            </a:r>
            <a:endParaRPr sz="3600" dirty="0">
              <a:solidFill>
                <a:srgbClr val="FFFFFF"/>
              </a:solidFill>
            </a:endParaRPr>
          </a:p>
        </p:txBody>
      </p:sp>
      <p:sp>
        <p:nvSpPr>
          <p:cNvPr id="497" name="Google Shape;497;p90"/>
          <p:cNvSpPr txBox="1"/>
          <p:nvPr/>
        </p:nvSpPr>
        <p:spPr>
          <a:xfrm>
            <a:off x="5886057" y="2159344"/>
            <a:ext cx="3257943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FFFF"/>
                </a:solidFill>
              </a:rPr>
              <a:t> → </a:t>
            </a:r>
            <a:r>
              <a:rPr lang="en" sz="2000" dirty="0">
                <a:solidFill>
                  <a:srgbClr val="FFFFFF"/>
                </a:solidFill>
              </a:rPr>
              <a:t>machine code</a:t>
            </a:r>
            <a:endParaRPr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0096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0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90"/>
          <p:cNvSpPr txBox="1"/>
          <p:nvPr/>
        </p:nvSpPr>
        <p:spPr>
          <a:xfrm>
            <a:off x="442619" y="2195550"/>
            <a:ext cx="2736759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</a:rPr>
              <a:t>Source Code </a:t>
            </a:r>
            <a:r>
              <a:rPr lang="en" sz="3600" dirty="0">
                <a:solidFill>
                  <a:srgbClr val="FFFFFF"/>
                </a:solidFill>
              </a:rPr>
              <a:t>→  </a:t>
            </a:r>
            <a:endParaRPr sz="3600" dirty="0">
              <a:solidFill>
                <a:srgbClr val="FFFFFF"/>
              </a:solidFill>
            </a:endParaRPr>
          </a:p>
        </p:txBody>
      </p:sp>
      <p:sp>
        <p:nvSpPr>
          <p:cNvPr id="497" name="Google Shape;497;p90"/>
          <p:cNvSpPr txBox="1"/>
          <p:nvPr/>
        </p:nvSpPr>
        <p:spPr>
          <a:xfrm>
            <a:off x="5886057" y="2159344"/>
            <a:ext cx="3257943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FFFF"/>
                </a:solidFill>
              </a:rPr>
              <a:t> → </a:t>
            </a:r>
            <a:r>
              <a:rPr lang="en" sz="2000" dirty="0">
                <a:solidFill>
                  <a:srgbClr val="FFFFFF"/>
                </a:solidFill>
              </a:rPr>
              <a:t>machine code</a:t>
            </a:r>
            <a:endParaRPr sz="36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613F4-F8DE-AF7E-B4D4-70016A5F8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681" y="1832674"/>
            <a:ext cx="1478151" cy="147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3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F569D6-DBA8-1EA8-FDFC-71272690E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5713D-3D94-95CC-5F51-16120735A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Bash</a:t>
            </a:r>
          </a:p>
          <a:p>
            <a:r>
              <a:rPr lang="en-US" dirty="0"/>
              <a:t>Create </a:t>
            </a:r>
            <a:r>
              <a:rPr lang="en-US" dirty="0" err="1"/>
              <a:t>Github</a:t>
            </a:r>
            <a:r>
              <a:rPr lang="en-US" dirty="0"/>
              <a:t> Account</a:t>
            </a:r>
          </a:p>
        </p:txBody>
      </p:sp>
    </p:spTree>
    <p:extLst>
      <p:ext uri="{BB962C8B-B14F-4D97-AF65-F5344CB8AC3E}">
        <p14:creationId xmlns:p14="http://schemas.microsoft.com/office/powerpoint/2010/main" val="102901423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959</Words>
  <Application>Microsoft Office PowerPoint</Application>
  <PresentationFormat>On-screen Show (16:9)</PresentationFormat>
  <Paragraphs>283</Paragraphs>
  <Slides>65</Slides>
  <Notes>62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Arabic Typesetting</vt:lpstr>
      <vt:lpstr>Arial</vt:lpstr>
      <vt:lpstr>Consolas</vt:lpstr>
      <vt:lpstr>Simple Dark</vt:lpstr>
      <vt:lpstr>بسم الله الرحمن الرحیم</vt:lpstr>
      <vt:lpstr>CS101 Introduction to  Computer Science</vt:lpstr>
      <vt:lpstr>Welcome</vt:lpstr>
      <vt:lpstr>Agenda </vt:lpstr>
      <vt:lpstr>Introduction</vt:lpstr>
      <vt:lpstr>Course Structure</vt:lpstr>
      <vt:lpstr>Outline</vt:lpstr>
      <vt:lpstr>Teaching vs Training</vt:lpstr>
      <vt:lpstr>عالم بی عمل – درخت بی ثمر</vt:lpstr>
      <vt:lpstr>Computer Science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ASCII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Unicode</vt:lpstr>
      <vt:lpstr>PowerPoint Presentation</vt:lpstr>
      <vt:lpstr>RGB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</vt:lpstr>
      <vt:lpstr>PowerPoint Presentation</vt:lpstr>
      <vt:lpstr>pseudocode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CS50</dc:title>
  <dc:creator>milestone</dc:creator>
  <cp:lastModifiedBy>milestone</cp:lastModifiedBy>
  <cp:revision>204</cp:revision>
  <dcterms:modified xsi:type="dcterms:W3CDTF">2025-05-20T21:13:19Z</dcterms:modified>
</cp:coreProperties>
</file>